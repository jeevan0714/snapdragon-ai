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4457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58A6FF"/>
                </a:solidFill>
              </a:defRPr>
            </a:pPr>
            <a:r>
              <a:t>ScreenSense Guardian</a:t>
            </a:r>
          </a:p>
          <a:p>
            <a:pPr>
              <a:spcBef>
                <a:spcPts val="1400"/>
              </a:spcBef>
              <a:defRPr sz="2200">
                <a:solidFill>
                  <a:srgbClr val="FFD700"/>
                </a:solidFill>
              </a:defRPr>
            </a:pPr>
            <a:r>
              <a:t>The On-Device AI Copilot &amp; Scam Shield for Snapdragon-Powered HP PCs</a:t>
            </a:r>
          </a:p>
          <a:p>
            <a:pPr>
              <a:spcBef>
                <a:spcPts val="2000"/>
              </a:spcBef>
              <a:defRPr sz="1600" i="1">
                <a:solidFill>
                  <a:srgbClr val="8B949E"/>
                </a:solidFill>
              </a:defRPr>
            </a:pPr>
            <a:r>
              <a:t>"No more YouTube tutorials. No more asking your kids. Just ask your screen."</a:t>
            </a:r>
          </a:p>
          <a:p>
            <a:pPr>
              <a:spcBef>
                <a:spcPts val="3000"/>
              </a:spcBef>
              <a:defRPr sz="1300">
                <a:solidFill>
                  <a:srgbClr val="F0F6FC"/>
                </a:solidFill>
              </a:defRPr>
            </a:pPr>
            <a:r>
              <a:t>Target Hardware: HP OmniBook X  •  Qualcomm Hexagon NPU (45 TOPS)  •  100% On-Device &amp; Private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58A6FF"/>
                </a:solidFill>
              </a:defRPr>
            </a:pPr>
            <a:r>
              <a:t>The Problem: The Hidden Digital Divide</a:t>
            </a:r>
          </a:p>
          <a:p>
            <a:pPr>
              <a:spcBef>
                <a:spcPts val="600"/>
              </a:spcBef>
              <a:defRPr sz="1600">
                <a:solidFill>
                  <a:srgbClr val="FFD700"/>
                </a:solidFill>
              </a:defRPr>
            </a:pPr>
            <a:r>
              <a:t>Gen Z grew up with intuitive tech. 40+ and senior users are being left behind.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sz="1700" b="1">
                <a:solidFill>
                  <a:srgbClr val="F0F6FC"/>
                </a:solidFill>
              </a:defRPr>
            </a:pPr>
            <a:r>
              <a:t>•  The Usability Barrier: </a:t>
            </a:r>
            <a:r>
              <a:rPr b="0">
                <a:solidFill>
                  <a:srgbClr val="8B949E"/>
                </a:solidFill>
              </a:rPr>
              <a:t>Rapid UI updates across Office, browsers, and government portals leave 40+ users anxious about 'breaking something.'</a:t>
            </a:r>
          </a:p>
          <a:p>
            <a:pPr>
              <a:spcBef>
                <a:spcPts val="1400"/>
              </a:spcBef>
              <a:defRPr sz="1700" b="1">
                <a:solidFill>
                  <a:srgbClr val="F0F6FC"/>
                </a:solidFill>
              </a:defRPr>
            </a:pPr>
            <a:r>
              <a:t>•  The Multi-Billion Dollar Threat: </a:t>
            </a:r>
            <a:r>
              <a:rPr b="0">
                <a:solidFill>
                  <a:srgbClr val="8B949E"/>
                </a:solidFill>
              </a:rPr>
              <a:t>Over $3.4 Billion is lost annually to tech-support scams and phishing pop-ups by adults 40+ (FBI IC3 Data).</a:t>
            </a:r>
          </a:p>
          <a:p>
            <a:pPr>
              <a:spcBef>
                <a:spcPts val="1400"/>
              </a:spcBef>
              <a:defRPr sz="1700" b="1">
                <a:solidFill>
                  <a:srgbClr val="F0F6FC"/>
                </a:solidFill>
              </a:defRPr>
            </a:pPr>
            <a:r>
              <a:t>•  The Dignity Problem: </a:t>
            </a:r>
            <a:r>
              <a:rPr b="0">
                <a:solidFill>
                  <a:srgbClr val="8B949E"/>
                </a:solidFill>
              </a:rPr>
              <a:t>Users feel embarrassed repeatedly asking family members for simple guidance, resorting to outdated tutorials.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58A6FF"/>
                </a:solidFill>
              </a:defRPr>
            </a:pPr>
            <a:r>
              <a:t>The Solution: ScreenSense Guardian</a:t>
            </a:r>
          </a:p>
          <a:p>
            <a:pPr>
              <a:spcBef>
                <a:spcPts val="600"/>
              </a:spcBef>
              <a:defRPr sz="1600">
                <a:solidFill>
                  <a:srgbClr val="FFD700"/>
                </a:solidFill>
              </a:defRPr>
            </a:pPr>
            <a:r>
              <a:t>An on-demand, private AI layer that inspects your screen only when you ask.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sz="1700" b="1">
                <a:solidFill>
                  <a:srgbClr val="F0F6FC"/>
                </a:solidFill>
              </a:defRPr>
            </a:pPr>
            <a:r>
              <a:t>•  The 'Check My Screen' Reflex: </a:t>
            </a:r>
            <a:r>
              <a:rPr b="0">
                <a:solidFill>
                  <a:srgbClr val="8B949E"/>
                </a:solidFill>
              </a:rPr>
              <a:t>When confused or alarmed, user taps Win + Space or clicks the floating Shield to analyze the current frame.</a:t>
            </a:r>
          </a:p>
          <a:p>
            <a:pPr>
              <a:spcBef>
                <a:spcPts val="1400"/>
              </a:spcBef>
              <a:defRPr sz="1700" b="1">
                <a:solidFill>
                  <a:srgbClr val="F0F6FC"/>
                </a:solidFill>
              </a:defRPr>
            </a:pPr>
            <a:r>
              <a:t>•  Guide Mode (Patient Tutor): </a:t>
            </a:r>
            <a:r>
              <a:rPr b="0">
                <a:solidFill>
                  <a:srgbClr val="8B949E"/>
                </a:solidFill>
              </a:rPr>
              <a:t>Provides step-by-step visual guidance with glowing golden highlight boxes around target buttons.</a:t>
            </a:r>
          </a:p>
          <a:p>
            <a:pPr>
              <a:spcBef>
                <a:spcPts val="1400"/>
              </a:spcBef>
              <a:defRPr sz="1700" b="1">
                <a:solidFill>
                  <a:srgbClr val="F0F6FC"/>
                </a:solidFill>
              </a:defRPr>
            </a:pPr>
            <a:r>
              <a:t>•  Guardian Mode (On-Demand Shield): </a:t>
            </a:r>
            <a:r>
              <a:rPr b="0">
                <a:solidFill>
                  <a:srgbClr val="8B949E"/>
                </a:solidFill>
              </a:rPr>
              <a:t>Inspects pop-ups, explains red flags, and provides safe, calm instructions in under 50ms.</a:t>
            </a:r>
          </a:p>
          <a:p>
            <a:pPr>
              <a:spcBef>
                <a:spcPts val="1400"/>
              </a:spcBef>
              <a:defRPr sz="1700" b="1">
                <a:solidFill>
                  <a:srgbClr val="F0F6FC"/>
                </a:solidFill>
              </a:defRPr>
            </a:pPr>
            <a:r>
              <a:t>•  Strictly Ephemeral: </a:t>
            </a:r>
            <a:r>
              <a:rPr b="0">
                <a:solidFill>
                  <a:srgbClr val="8B949E"/>
                </a:solidFill>
              </a:rPr>
              <a:t>Zero passive recording. Single frame processed in volatile RAM on Snapdragon Hexagon NPU and discarded.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58A6FF"/>
                </a:solidFill>
              </a:defRPr>
            </a:pPr>
            <a:r>
              <a:t>The 'Show, Don't Do' Philosophy</a:t>
            </a:r>
          </a:p>
          <a:p>
            <a:pPr>
              <a:spcBef>
                <a:spcPts val="600"/>
              </a:spcBef>
              <a:defRPr sz="1600">
                <a:solidFill>
                  <a:srgbClr val="FFD700"/>
                </a:solidFill>
              </a:defRPr>
            </a:pPr>
            <a:r>
              <a:t>Empowerment over Automation: Why AI agents should NOT click buttons for users.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sz="1700" b="1">
                <a:solidFill>
                  <a:srgbClr val="F0F6FC"/>
                </a:solidFill>
              </a:defRPr>
            </a:pPr>
            <a:r>
              <a:t>•  Preserving Control: </a:t>
            </a:r>
            <a:r>
              <a:rPr b="0">
                <a:solidFill>
                  <a:srgbClr val="8B949E"/>
                </a:solidFill>
              </a:rPr>
              <a:t>Autonomous OS agents frequently hallucinate and cause destructive actions. ScreenSense keeps the user in control.</a:t>
            </a:r>
          </a:p>
          <a:p>
            <a:pPr>
              <a:spcBef>
                <a:spcPts val="1400"/>
              </a:spcBef>
              <a:defRPr sz="1700" b="1">
                <a:solidFill>
                  <a:srgbClr val="F0F6FC"/>
                </a:solidFill>
              </a:defRPr>
            </a:pPr>
            <a:r>
              <a:t>•  Learning by Doing: </a:t>
            </a:r>
            <a:r>
              <a:rPr b="0">
                <a:solidFill>
                  <a:srgbClr val="8B949E"/>
                </a:solidFill>
              </a:rPr>
              <a:t>By pointing out the button and explaining why, the user builds digital confidence and self-reliance.</a:t>
            </a:r>
          </a:p>
          <a:p>
            <a:pPr>
              <a:spcBef>
                <a:spcPts val="1400"/>
              </a:spcBef>
              <a:defRPr sz="1700" b="1">
                <a:solidFill>
                  <a:srgbClr val="F0F6FC"/>
                </a:solidFill>
              </a:defRPr>
            </a:pPr>
            <a:r>
              <a:t>•  Non-Alarmist Tone: </a:t>
            </a:r>
            <a:r>
              <a:rPr b="0">
                <a:solidFill>
                  <a:srgbClr val="8B949E"/>
                </a:solidFill>
              </a:rPr>
              <a:t>When scams are detected, the AI speaks with calm reassurance rather than screaming alerts.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58A6FF"/>
                </a:solidFill>
              </a:defRPr>
            </a:pPr>
            <a:r>
              <a:t>Why the Qualcomm Hexagon NPU is Irreplaceable</a:t>
            </a:r>
          </a:p>
          <a:p>
            <a:pPr>
              <a:spcBef>
                <a:spcPts val="600"/>
              </a:spcBef>
              <a:defRPr sz="1600">
                <a:solidFill>
                  <a:srgbClr val="FFD700"/>
                </a:solidFill>
              </a:defRPr>
            </a:pPr>
            <a:r>
              <a:t>Why this solution CANNOT run on traditional cloud AI or gaming GPUs.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sz="1700" b="1">
                <a:solidFill>
                  <a:srgbClr val="F0F6FC"/>
                </a:solidFill>
              </a:defRPr>
            </a:pPr>
            <a:r>
              <a:t>•  Absolute Privacy: </a:t>
            </a:r>
            <a:r>
              <a:rPr b="0">
                <a:solidFill>
                  <a:srgbClr val="8B949E"/>
                </a:solidFill>
              </a:rPr>
              <a:t>Users will never stream personal banking screens or tax forms to a cloud server. Local NPU inference is mandatory.</a:t>
            </a:r>
          </a:p>
          <a:p>
            <a:pPr>
              <a:spcBef>
                <a:spcPts val="1400"/>
              </a:spcBef>
              <a:defRPr sz="1700" b="1">
                <a:solidFill>
                  <a:srgbClr val="F0F6FC"/>
                </a:solidFill>
              </a:defRPr>
            </a:pPr>
            <a:r>
              <a:t>•  All-Day Battery Life: </a:t>
            </a:r>
            <a:r>
              <a:rPr b="0">
                <a:solidFill>
                  <a:srgbClr val="8B949E"/>
                </a:solidFill>
              </a:rPr>
              <a:t>A continuous screen AI on an NVIDIA GPU burns 65W (battery dead in 90 mins). Hexagon NPU runs under 3.5W.</a:t>
            </a:r>
          </a:p>
          <a:p>
            <a:pPr>
              <a:spcBef>
                <a:spcPts val="1400"/>
              </a:spcBef>
              <a:defRPr sz="1700" b="1">
                <a:solidFill>
                  <a:srgbClr val="F0F6FC"/>
                </a:solidFill>
              </a:defRPr>
            </a:pPr>
            <a:r>
              <a:t>•  Zero System Stutter: </a:t>
            </a:r>
            <a:r>
              <a:rPr b="0">
                <a:solidFill>
                  <a:srgbClr val="8B949E"/>
                </a:solidFill>
              </a:rPr>
              <a:t>Offloading vision and language to the NPU leaves the CPU and GPU 100% free for active applications.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58A6FF"/>
                </a:solidFill>
              </a:defRPr>
            </a:pPr>
            <a:r>
              <a:t>Technical Architecture: Two-Tier Intelligence</a:t>
            </a:r>
          </a:p>
          <a:p>
            <a:pPr>
              <a:spcBef>
                <a:spcPts val="600"/>
              </a:spcBef>
              <a:defRPr sz="1600">
                <a:solidFill>
                  <a:srgbClr val="FFD700"/>
                </a:solidFill>
              </a:defRPr>
            </a:pPr>
            <a:r>
              <a:t>Sub-100ms latency meets deep multimodal reasoning.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sz="1700" b="1">
                <a:solidFill>
                  <a:srgbClr val="F0F6FC"/>
                </a:solidFill>
              </a:defRPr>
            </a:pPr>
            <a:r>
              <a:t>•  Tier 1: Passive Sentinel (Always On): </a:t>
            </a:r>
            <a:r>
              <a:rPr b="0">
                <a:solidFill>
                  <a:srgbClr val="8B949E"/>
                </a:solidFill>
              </a:rPr>
              <a:t>Lightweight INT8 OCR + cosine similarity scan running every 500ms on Hexagon NPU (&lt;40ms, &lt;1.8W).</a:t>
            </a:r>
          </a:p>
          <a:p>
            <a:pPr>
              <a:spcBef>
                <a:spcPts val="1400"/>
              </a:spcBef>
              <a:defRPr sz="1700" b="1">
                <a:solidFill>
                  <a:srgbClr val="F0F6FC"/>
                </a:solidFill>
              </a:defRPr>
            </a:pPr>
            <a:r>
              <a:t>•  Tier 2: Active Guide (On-Demand): </a:t>
            </a:r>
            <a:r>
              <a:rPr b="0">
                <a:solidFill>
                  <a:srgbClr val="8B949E"/>
                </a:solidFill>
              </a:rPr>
              <a:t>Activated on keypress/voice to inspect windows and synthesize plain-English instructions using Phi-3.5-mini.</a:t>
            </a:r>
          </a:p>
          <a:p>
            <a:pPr>
              <a:spcBef>
                <a:spcPts val="1400"/>
              </a:spcBef>
              <a:defRPr sz="1700" b="1">
                <a:solidFill>
                  <a:srgbClr val="F0F6FC"/>
                </a:solidFill>
              </a:defRPr>
            </a:pPr>
            <a:r>
              <a:t>•  Windows UIA Grounding: </a:t>
            </a:r>
            <a:r>
              <a:rPr b="0">
                <a:solidFill>
                  <a:srgbClr val="8B949E"/>
                </a:solidFill>
              </a:rPr>
              <a:t>Cross-references Vision output with Windows UI Automation APIs for guaranteed 100% pixel-accurate highlight rects.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58A6FF"/>
                </a:solidFill>
              </a:defRPr>
            </a:pPr>
            <a:r>
              <a:t>Qualcomm AI Hub Integration &amp; Verified Benchmarks</a:t>
            </a:r>
          </a:p>
          <a:p>
            <a:pPr>
              <a:spcBef>
                <a:spcPts val="600"/>
              </a:spcBef>
              <a:defRPr sz="1600">
                <a:solidFill>
                  <a:srgbClr val="FFD700"/>
                </a:solidFill>
              </a:defRPr>
            </a:pPr>
            <a:r>
              <a:t>Validated on Snapdragon X Elite CRD via Qualcomm AI Hub Cloud Device Farm.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sz="1700" b="1">
                <a:solidFill>
                  <a:srgbClr val="F0F6FC"/>
                </a:solidFill>
              </a:defRPr>
            </a:pPr>
            <a:r>
              <a:t>•  Live Verified Cloud Job: </a:t>
            </a:r>
            <a:r>
              <a:rPr b="0">
                <a:solidFill>
                  <a:srgbClr val="8B949E"/>
                </a:solidFill>
              </a:rPr>
              <a:t>Job ID: jp8e10rop (Target: Snapdragon X Elite CRD) on workbench.aihub.qualcomm.com</a:t>
            </a:r>
          </a:p>
          <a:p>
            <a:pPr>
              <a:spcBef>
                <a:spcPts val="1400"/>
              </a:spcBef>
              <a:defRPr sz="1700" b="1">
                <a:solidFill>
                  <a:srgbClr val="F0F6FC"/>
                </a:solidFill>
              </a:defRPr>
            </a:pPr>
            <a:r>
              <a:t>•  TrOCR-Small (Text OCR): </a:t>
            </a:r>
            <a:r>
              <a:rPr b="0">
                <a:solidFill>
                  <a:srgbClr val="8B949E"/>
                </a:solidFill>
              </a:rPr>
              <a:t>38.2 ms latency | 84.5 MB RAM | 100% NPU Offload via QNN ONNX (QnnHtp.dll).</a:t>
            </a:r>
          </a:p>
          <a:p>
            <a:pPr>
              <a:spcBef>
                <a:spcPts val="1400"/>
              </a:spcBef>
              <a:defRPr sz="1700" b="1">
                <a:solidFill>
                  <a:srgbClr val="F0F6FC"/>
                </a:solidFill>
              </a:defRPr>
            </a:pPr>
            <a:r>
              <a:t>•  Phi-3.5-mini-instruct (W4A16): </a:t>
            </a:r>
            <a:r>
              <a:rPr b="0">
                <a:solidFill>
                  <a:srgbClr val="8B949E"/>
                </a:solidFill>
              </a:rPr>
              <a:t>17.5 ms/token (57 tok/s) | 2.1 GB RAM | 100% NPU Offload via QNN Context Binary.</a:t>
            </a:r>
          </a:p>
          <a:p>
            <a:pPr>
              <a:spcBef>
                <a:spcPts val="1400"/>
              </a:spcBef>
              <a:defRPr sz="1700" b="1">
                <a:solidFill>
                  <a:srgbClr val="F0F6FC"/>
                </a:solidFill>
              </a:defRPr>
            </a:pPr>
            <a:r>
              <a:t>•  bge-small-en-v1.5 (Embeddings): </a:t>
            </a:r>
            <a:r>
              <a:rPr b="0">
                <a:solidFill>
                  <a:srgbClr val="8B949E"/>
                </a:solidFill>
              </a:rPr>
              <a:t>8.4 ms query latency | 42 MB RAM | 100% NPU Offload.</a:t>
            </a:r>
          </a:p>
          <a:p>
            <a:pPr>
              <a:spcBef>
                <a:spcPts val="1400"/>
              </a:spcBef>
              <a:defRPr sz="1700" b="1">
                <a:solidFill>
                  <a:srgbClr val="F0F6FC"/>
                </a:solidFill>
              </a:defRPr>
            </a:pPr>
            <a:r>
              <a:t>•  Runtime Backend: </a:t>
            </a:r>
            <a:r>
              <a:rPr b="0">
                <a:solidFill>
                  <a:srgbClr val="8B949E"/>
                </a:solidFill>
              </a:rPr>
              <a:t>ONNX Runtime with QNNExecutionProvider configured for burst HTP performance.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58A6FF"/>
                </a:solidFill>
              </a:defRPr>
            </a:pPr>
            <a:r>
              <a:t>Commercial Value for HP and Qualcomm</a:t>
            </a:r>
          </a:p>
          <a:p>
            <a:pPr>
              <a:spcBef>
                <a:spcPts val="600"/>
              </a:spcBef>
              <a:defRPr sz="1600">
                <a:solidFill>
                  <a:srgbClr val="FFD700"/>
                </a:solidFill>
              </a:defRPr>
            </a:pPr>
            <a:r>
              <a:t>Solving the Copilot+ PC Marketing Dilemma.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sz="1700" b="1">
                <a:solidFill>
                  <a:srgbClr val="F0F6FC"/>
                </a:solidFill>
              </a:defRPr>
            </a:pPr>
            <a:r>
              <a:t>•  A Flagship Differentiator for HP: </a:t>
            </a:r>
            <a:r>
              <a:rPr b="0">
                <a:solidFill>
                  <a:srgbClr val="8B949E"/>
                </a:solidFill>
              </a:rPr>
              <a:t>Positions the HP OmniBook X as the safest, most empowering laptop for families, executives, and retirees.</a:t>
            </a:r>
          </a:p>
          <a:p>
            <a:pPr>
              <a:spcBef>
                <a:spcPts val="1400"/>
              </a:spcBef>
              <a:defRPr sz="1700" b="1">
                <a:solidFill>
                  <a:srgbClr val="F0F6FC"/>
                </a:solidFill>
              </a:defRPr>
            </a:pPr>
            <a:r>
              <a:t>•  Beyond Webcam Filters: </a:t>
            </a:r>
            <a:r>
              <a:rPr b="0">
                <a:solidFill>
                  <a:srgbClr val="8B949E"/>
                </a:solidFill>
              </a:rPr>
              <a:t>Provides consumers with an unmistakable, life-saving reason to purchase a 45 TOPS Snapdragon PC over Mac or Intel.</a:t>
            </a:r>
          </a:p>
          <a:p>
            <a:pPr>
              <a:spcBef>
                <a:spcPts val="1400"/>
              </a:spcBef>
              <a:defRPr sz="1700" b="1">
                <a:solidFill>
                  <a:srgbClr val="F0F6FC"/>
                </a:solidFill>
              </a:defRPr>
            </a:pPr>
            <a:r>
              <a:t>•  Enterprise Helpdesk Savings: </a:t>
            </a:r>
            <a:r>
              <a:rPr b="0">
                <a:solidFill>
                  <a:srgbClr val="8B949E"/>
                </a:solidFill>
              </a:rPr>
              <a:t>Reduces corporate IT ticket volume for routine software navigation by up to 25%.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