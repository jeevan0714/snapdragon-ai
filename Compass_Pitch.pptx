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114800"/>
            <a:ext cx="3200400" cy="3200400"/>
          </a:xfrm>
          <a:prstGeom prst="ellipse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E8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6088" y="1005840"/>
            <a:ext cx="1645920" cy="1645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7761" y="1137513"/>
            <a:ext cx="1382572" cy="1382572"/>
          </a:xfrm>
          <a:prstGeom prst="ellipse">
            <a:avLst/>
          </a:prstGeom>
          <a:solidFill>
            <a:srgbClr val="0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5917996" y="1252728"/>
            <a:ext cx="362102" cy="576072"/>
          </a:xfrm>
          <a:prstGeom prst="triangle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5917996" y="1828800"/>
            <a:ext cx="362102" cy="576072"/>
          </a:xfrm>
          <a:prstGeom prst="triangle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6026627" y="1683959"/>
            <a:ext cx="345643" cy="289681"/>
          </a:xfrm>
          <a:prstGeom prst="triangle">
            <a:avLst/>
          </a:prstGeom>
          <a:solidFill>
            <a:srgbClr val="E0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6200000">
            <a:off x="5782208" y="1683959"/>
            <a:ext cx="345643" cy="289681"/>
          </a:xfrm>
          <a:prstGeom prst="triangle">
            <a:avLst/>
          </a:prstGeom>
          <a:solidFill>
            <a:srgbClr val="E0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7374" y="1697126"/>
            <a:ext cx="263347" cy="263347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3211" y="1762963"/>
            <a:ext cx="131673" cy="1316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03875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260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1A1A2E"/>
                </a:solidFill>
                <a:latin typeface="Segoe UI"/>
              </a:defRPr>
            </a:pPr>
            <a:r>
              <a:t>Compass</a:t>
            </a:r>
          </a:p>
          <a:p>
            <a:pPr algn="ctr">
              <a:spcAft>
                <a:spcPts val="400"/>
              </a:spcAft>
              <a:defRPr sz="2600" b="0">
                <a:solidFill>
                  <a:srgbClr val="FF6B6B"/>
                </a:solidFill>
                <a:latin typeface="Segoe UI"/>
              </a:defRPr>
            </a:pPr>
            <a:r>
              <a:t>Never get lost on your own computer 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2D2D3F"/>
                </a:solidFill>
                <a:latin typeface="Segoe UI"/>
              </a:defRPr>
            </a:pPr>
            <a:r>
              <a:t>100% Local On-Device AI Copilot &amp; Scam Shield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6B7B8D"/>
                </a:solidFill>
                <a:latin typeface="Segoe UI"/>
              </a:defRPr>
            </a:pPr>
            <a:r>
              <a:t>Snapdragon X Elite  |  Qualcomm Hexagon NPU (45 TOPS)  |  HP OmniBook 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5943600"/>
            <a:ext cx="1920240" cy="4572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Zero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943600"/>
            <a:ext cx="1920240" cy="45720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Sub-100ms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943600"/>
            <a:ext cx="1920240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100% Private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59" y="5943600"/>
            <a:ext cx="192024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All-Day Battery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The Problem: A Hidden Digital Divide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Segoe UI"/>
              </a:defRPr>
            </a:pPr>
            <a:r>
              <a:t>1.2 billion users aged 40+ struggle with technology that changes faster than they can learn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9184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237744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2E"/>
                </a:solidFill>
                <a:latin typeface="Segoe UI"/>
              </a:defRPr>
            </a:pPr>
            <a:r>
              <a:t>The Fear of</a:t>
            </a:r>
            <a:br/>
            <a:r>
              <a:t>"Breaking Something"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Segoe UI"/>
              </a:defRPr>
            </a:pPr>
            <a:r>
              <a:t>Non-digital natives hesitate to explore software. Error messages are cryptic. Interfaces change without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291840" cy="9144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377440"/>
            <a:ext cx="822960" cy="82296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2E"/>
                </a:solidFill>
                <a:latin typeface="Segoe UI"/>
              </a:defRPr>
            </a:pPr>
            <a:r>
              <a:t>$3.4 Billion</a:t>
            </a:r>
            <a:br/>
            <a:r>
              <a:t>Lost to Scams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Segoe UI"/>
              </a:defRPr>
            </a:pPr>
            <a:r>
              <a:t>Tech support scams, phishing pop-ups, OTP theft — adults over 40 are the #1 target of online fraud.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2918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237744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2E"/>
                </a:solidFill>
                <a:latin typeface="Segoe UI"/>
              </a:defRPr>
            </a:pPr>
            <a:r>
              <a:t>The Embarrassment</a:t>
            </a:r>
            <a:br/>
            <a:r>
              <a:t>of Asking for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Segoe UI"/>
              </a:defRPr>
            </a:pPr>
            <a:r>
              <a:t>40+ users suffer in silence, watching outdated YouTube tutorials rather than asking family for help again.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"/>
              </a:defRPr>
            </a:pPr>
            <a:r>
              <a:t>The Solution: Compass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Segoe UI"/>
              </a:defRPr>
            </a:pPr>
            <a:r>
              <a:t>An on-demand, private AI layer that inspects your screen only when you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Guide Mode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E0"/>
                </a:solidFill>
                <a:latin typeface="Segoe UI"/>
              </a:defRPr>
            </a:pPr>
            <a:r>
              <a:t>Patient AI Tutor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27355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200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Step-by-step visual walkthroughs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86791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Highlights exactly where to click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46227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Copyable keyboard shortcuts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05663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9834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Works in Google Docs, Word, Excel,</a:t>
            </a:r>
            <a:br/>
            <a:r>
              <a:t>PowerPoint, GitHub, &amp; more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565099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577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Quest-style progress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303520" cy="10972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965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Guardian Mode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E0"/>
                </a:solidFill>
                <a:latin typeface="Segoe UI"/>
              </a:defRPr>
            </a:pPr>
            <a:r>
              <a:t>Real-Time Scam Shield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32735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200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Detects 5 categories of scams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386791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7947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Tech support, phishing, OTP theft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44622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Calm, non-alarmist explanations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505663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9834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Clear safe actions for every threat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565099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5577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3F"/>
                </a:solidFill>
                <a:latin typeface="Segoe UI"/>
              </a:defRPr>
            </a:pPr>
            <a:r>
              <a:t>38ms NPU-powered screen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Segoe UI"/>
              </a:defRPr>
            </a:pPr>
            <a:r>
              <a:t>Guide Mode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82880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Segoe UI"/>
              </a:defRPr>
            </a:pPr>
            <a:r>
              <a:t>User asks: "How to add page numbers?" — Compass generates a 5-step visual walkthrough instantly.</a:t>
            </a:r>
          </a:p>
        </p:txBody>
      </p:sp>
      <p:pic>
        <p:nvPicPr>
          <p:cNvPr id="6" name="Picture 5" descr="guide_mode_google_docs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132320" cy="4040912"/>
          </a:xfrm>
          <a:prstGeom prst="rect">
            <a:avLst/>
          </a:prstGeom>
        </p:spPr>
      </p:pic>
      <p:pic>
        <p:nvPicPr>
          <p:cNvPr id="7" name="Picture 6" descr="guide_mode_quest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63040"/>
            <a:ext cx="3840480" cy="21602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846320"/>
            <a:ext cx="112471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914400" cy="3200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Open Insert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Alt + 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14599" y="5029200"/>
            <a:ext cx="274320" cy="182880"/>
          </a:xfrm>
          <a:prstGeom prst="rightArrow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4983480"/>
            <a:ext cx="914400" cy="3200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Find Header &amp; Page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Press 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27447" y="5029200"/>
            <a:ext cx="274320" cy="182880"/>
          </a:xfrm>
          <a:prstGeom prst="rightArrow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4983480"/>
            <a:ext cx="914400" cy="3200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Select Page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Click Page number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40295" y="5029200"/>
            <a:ext cx="274320" cy="182880"/>
          </a:xfrm>
          <a:prstGeom prst="rightArrow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78624" y="4983480"/>
            <a:ext cx="914400" cy="3200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Select Top-Right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Select 1st Layout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53143" y="5029200"/>
            <a:ext cx="274320" cy="182880"/>
          </a:xfrm>
          <a:prstGeom prst="rightArrow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91472" y="4983480"/>
            <a:ext cx="914400" cy="32004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Quest Complete!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5806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4D8"/>
                </a:solidFill>
                <a:latin typeface="Segoe UI"/>
              </a:defRPr>
            </a:pPr>
            <a:r>
              <a:t>Click document body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Segoe UI"/>
              </a:defRPr>
            </a:pPr>
            <a:r>
              <a:t>Guardian Mode: Real-Time Scam 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Segoe UI"/>
              </a:defRPr>
            </a:pPr>
            <a:r>
              <a:t>Detects Tech Support Scams, Phishing, OTP Theft, and Fake Downloads — all in &lt;40ms on NPU.</a:t>
            </a:r>
          </a:p>
        </p:txBody>
      </p:sp>
      <p:pic>
        <p:nvPicPr>
          <p:cNvPr id="6" name="Picture 5" descr="guardian_scam_detection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132320" cy="4011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Segoe UI"/>
              </a:defRPr>
            </a:pPr>
            <a:r>
              <a:t>5 Threat Categories Detected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746504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459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A1A2E"/>
                </a:solidFill>
                <a:latin typeface="Segoe UI"/>
              </a:defRPr>
            </a:pPr>
            <a:r>
              <a:t>Tech Support Scams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928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B8D"/>
                </a:solidFill>
                <a:latin typeface="Segoe UI"/>
              </a:defRPr>
            </a:pPr>
            <a:r>
              <a:t>"Your PC is infected! Call now!"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350008"/>
            <a:ext cx="182880" cy="18288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2494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A1A2E"/>
                </a:solidFill>
                <a:latin typeface="Segoe UI"/>
              </a:defRPr>
            </a:pPr>
            <a:r>
              <a:t>Banking &amp; OTP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963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B8D"/>
                </a:solidFill>
                <a:latin typeface="Segoe UI"/>
              </a:defRPr>
            </a:pPr>
            <a:r>
              <a:t>"Share your OTP to verify."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2953512"/>
            <a:ext cx="182880" cy="182880"/>
          </a:xfrm>
          <a:prstGeom prst="ellipse">
            <a:avLst/>
          </a:prstGeom>
          <a:solidFill>
            <a:srgbClr val="FD9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852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A1A2E"/>
                </a:solidFill>
                <a:latin typeface="Segoe UI"/>
              </a:defRPr>
            </a:pPr>
            <a:r>
              <a:t>Phishing &amp; Fake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0998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B8D"/>
                </a:solidFill>
                <a:latin typeface="Segoe UI"/>
              </a:defRPr>
            </a:pPr>
            <a:r>
              <a:t>"Claim your tax refund!"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3557016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4564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A1A2E"/>
                </a:solidFill>
                <a:latin typeface="Segoe UI"/>
              </a:defRPr>
            </a:pPr>
            <a:r>
              <a:t>Celebrity Impersonation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703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B8D"/>
                </a:solidFill>
                <a:latin typeface="Segoe UI"/>
              </a:defRPr>
            </a:pPr>
            <a:r>
              <a:t>"I'm in trouble, send money"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4160520"/>
            <a:ext cx="182880" cy="1828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0599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A1A2E"/>
                </a:solidFill>
                <a:latin typeface="Segoe UI"/>
              </a:defRPr>
            </a:pPr>
            <a:r>
              <a:t>Deceptive Downloads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3068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B8D"/>
                </a:solidFill>
                <a:latin typeface="Segoe UI"/>
              </a:defRPr>
            </a:pPr>
            <a:r>
              <a:t>"Update Flash Player now!"</a:t>
            </a:r>
          </a:p>
        </p:txBody>
      </p:sp>
      <p:pic>
        <p:nvPicPr>
          <p:cNvPr id="23" name="Picture 22" descr="guardian_safe_ver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754880"/>
            <a:ext cx="3474720" cy="183465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65760" y="5166360"/>
            <a:ext cx="7132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1A2E"/>
                </a:solidFill>
                <a:latin typeface="Segoe UI"/>
              </a:defRPr>
            </a:pPr>
            <a:r>
              <a:t>Design Rules for Protective Alerts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B7B8D"/>
                </a:solidFill>
                <a:latin typeface="Segoe UI"/>
              </a:defRPr>
            </a:pPr>
            <a:r>
              <a:t>Calm, not alarmist  |  Always explain why  |  Suggest safe actions  |  Never auto-block  |  Large text, simple words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F6B6B"/>
                </a:solidFill>
                <a:latin typeface="Segoe UI"/>
              </a:defRPr>
            </a:pPr>
            <a:r>
              <a:t>"This might be a scam. Let's check together." — Compass speaks with reassurance, not fear.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ss_architectur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"/>
            <a:ext cx="11457432" cy="73654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Segoe UI"/>
              </a:defRPr>
            </a:pPr>
            <a:r>
              <a:t>AI Models &amp; NPU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7315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Segoe UI"/>
              </a:defRPr>
            </a:pPr>
            <a:r>
              <a:t>All models verified on physical Snapdragon X Elite CRD via Qualcomm AI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TrOCR-Small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Screen 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38.2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84.5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566160" cy="50292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Qwen2.5-VL-3B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Vision + UI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42 ms/tok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1.85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46304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463040"/>
            <a:ext cx="356616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Phi-3.5-mini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Reasoning &amp; Explanation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17.5 ms/tok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2.15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14800"/>
            <a:ext cx="356616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Whisper-Small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Voice Transcription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115 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260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98.4%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411480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97680" y="4114800"/>
            <a:ext cx="3566160" cy="502920"/>
          </a:xfrm>
          <a:prstGeom prst="rect">
            <a:avLst/>
          </a:prstGeom>
          <a:solidFill>
            <a:srgbClr val="FD9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bge-small-en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Scam Pattern Matching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8.4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42 MB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411480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4114800"/>
            <a:ext cx="3566160" cy="50292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Piper TTS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8D"/>
                </a:solidFill>
                <a:latin typeface="Segoe UI"/>
              </a:defRPr>
            </a:pPr>
            <a:r>
              <a:t>Voice 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24.5 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Peak RAM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34 MB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Segoe UI"/>
              </a:defRPr>
            </a:pPr>
            <a:r>
              <a:t>NPU Offload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Why Snapdragon NPU — Performance &amp; Smart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49808"/>
            <a:ext cx="29260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Segoe UI"/>
              </a:defRPr>
            </a:pPr>
            <a:r>
              <a:t>100% Private On-Device Execution paired with Dynamic SSD-to-RAM Demand Paging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Segoe UI"/>
              </a:defRPr>
            </a:pPr>
            <a:r>
              <a:t>Cloud AI vs Snapdragon Hexagon NPU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5029200" cy="21488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F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55648"/>
            <a:ext cx="2011680" cy="310896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✕ Cloud AI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Privacy Risk: Screens &amp; audio uploaded to remote servers</a:t>
            </a:r>
          </a:p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High Latency: 500ms–2.0s roundtrip; completely dead offline</a:t>
            </a:r>
          </a:p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Battery &amp; Cost: Ongoing API token bills; CPU/GPU fans spin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029200" cy="2542032"/>
          </a:xfrm>
          <a:prstGeom prst="roundRect">
            <a:avLst/>
          </a:prstGeom>
          <a:solidFill>
            <a:srgbClr val="F0FBF5"/>
          </a:solidFill>
          <a:ln w="19050">
            <a:solidFill>
              <a:srgbClr val="A0E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059936"/>
            <a:ext cx="3017520" cy="310896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✓ Snapdragon Hexagon NPU (45 TOPS)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62272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100% Private: Ephemeral volatile buffer in RAM — zero telemetry</a:t>
            </a:r>
          </a:p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Instant &amp; Offline: Sub-100ms local inference; works anywhere</a:t>
            </a:r>
          </a:p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~1.8W Power Envelope: Whisper-silent cooling &amp; all-day battery</a:t>
            </a:r>
          </a:p>
          <a:p>
            <a:pPr algn="l">
              <a:spcAft>
                <a:spcPts val="400"/>
              </a:spcAft>
              <a:defRPr sz="1050" b="0">
                <a:solidFill>
                  <a:srgbClr val="2D2D3F"/>
                </a:solidFill>
                <a:latin typeface="Segoe UI"/>
              </a:defRPr>
            </a:pPr>
            <a:r>
              <a:t>• Zero Marginal Cost: $0 server infrastructure; runs 100% free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2618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Segoe UI"/>
              </a:defRPr>
            </a:pPr>
            <a:r>
              <a:t>Smart Memory: Dynamic SSD-to-RAM Demand Paging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27632"/>
            <a:ext cx="5623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627632"/>
            <a:ext cx="109728" cy="1371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7007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1. Resting State: Stored Cold on PCIe Gen 4 NVMe SSD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7510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7B8D"/>
                </a:solidFill>
                <a:latin typeface="Segoe UI"/>
              </a:defRPr>
            </a:pPr>
            <a:r>
              <a:t>• Heavy models (Phi-3.5 2.1GB, Qwen-VL 1.8GB) sleep dormant on disk</a:t>
            </a:r>
          </a:p>
          <a:p>
            <a:pPr algn="l">
              <a:spcAft>
                <a:spcPts val="400"/>
              </a:spcAft>
              <a:defRPr sz="1000" b="1">
                <a:solidFill>
                  <a:srgbClr val="00B4D8"/>
                </a:solidFill>
                <a:latin typeface="Segoe UI"/>
              </a:defRPr>
            </a:pPr>
            <a:r>
              <a:t>• Compass Idle RAM Footprint: &lt;40 MB — leaves 95%+ RAM free for your apps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503920" y="3035808"/>
            <a:ext cx="365760" cy="201168"/>
          </a:xfrm>
          <a:prstGeom prst="down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008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4D8"/>
                </a:solidFill>
                <a:latin typeface="Segoe UI"/>
              </a:defRPr>
            </a:pPr>
            <a:r>
              <a:t>User clicks 'Ask' / Speaks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73552"/>
            <a:ext cx="5623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273552"/>
            <a:ext cx="109728" cy="13716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3467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2. Instant Demand Paging: Zero-Copy mmap (~450ms)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62102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7B8D"/>
                </a:solidFill>
                <a:latin typeface="Segoe UI"/>
              </a:defRPr>
            </a:pPr>
            <a:r>
              <a:t>• Ultra-fast PCIe Gen 4 SSD read speed: 3,500 – 5,000 MB/s</a:t>
            </a:r>
          </a:p>
          <a:p>
            <a:pPr algn="l">
              <a:spcAft>
                <a:spcPts val="400"/>
              </a:spcAft>
              <a:defRPr sz="1000" b="1">
                <a:solidFill>
                  <a:srgbClr val="7B2FF7"/>
                </a:solidFill>
                <a:latin typeface="Segoe UI"/>
              </a:defRPr>
            </a:pPr>
            <a:r>
              <a:t>• Memory-Mapped Files (mmap): Weights mapped directly into Unified LPDDR5x RAM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503920" y="4681728"/>
            <a:ext cx="365760" cy="201168"/>
          </a:xfrm>
          <a:prstGeom prst="downArrow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654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D6A0"/>
                </a:solidFill>
                <a:latin typeface="Segoe UI"/>
              </a:defRPr>
            </a:pPr>
            <a:r>
              <a:t>Steps rendered on screen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19472"/>
            <a:ext cx="56235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919472"/>
            <a:ext cx="109728" cy="1554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9926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3. Active Hexagon Burst &amp; 60s Auto-Eviction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266944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B7B8D"/>
                </a:solidFill>
                <a:latin typeface="Segoe UI"/>
              </a:defRPr>
            </a:pPr>
            <a:r>
              <a:t>• Hexagon NPU processes task in &lt;100ms at ~1.8W power envelope</a:t>
            </a:r>
          </a:p>
          <a:p>
            <a:pPr algn="l">
              <a:spcAft>
                <a:spcPts val="400"/>
              </a:spcAft>
              <a:defRPr sz="1000" b="1">
                <a:solidFill>
                  <a:srgbClr val="06D6A0"/>
                </a:solidFill>
                <a:latin typeface="Segoe UI"/>
              </a:defRPr>
            </a:pPr>
            <a:r>
              <a:t>• Auto-Evict TTL (60s): Cache purged, handles closed, memory freed instantly</a:t>
            </a:r>
          </a:p>
          <a:p>
            <a:pPr algn="l">
              <a:spcAft>
                <a:spcPts val="400"/>
              </a:spcAft>
              <a:defRPr sz="950" b="1">
                <a:solidFill>
                  <a:srgbClr val="1A1A2E"/>
                </a:solidFill>
                <a:latin typeface="Segoe UI"/>
              </a:defRPr>
            </a:pPr>
            <a:r>
              <a:t>• Zero memory leaks, zero thermal throttling, zero desktop stutter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D9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Voice Input &amp; "Show, Don't Do"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743200" cy="73152"/>
          </a:xfrm>
          <a:prstGeom prst="rect">
            <a:avLst/>
          </a:prstGeom>
          <a:solidFill>
            <a:srgbClr val="FD9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ss_terminal_la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38912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12080" y="118872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3258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D9E02"/>
                </a:solidFill>
                <a:latin typeface="Segoe UI"/>
              </a:defRPr>
            </a:pPr>
            <a:r>
              <a:t>Voice Input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  <a:latin typeface="Segoe UI"/>
              </a:defRPr>
            </a:pPr>
            <a:r>
              <a:t>Click Voice, speak your question naturally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  <a:latin typeface="Segoe UI"/>
              </a:defRPr>
            </a:pPr>
            <a:r>
              <a:t>Whisper-Small transcribes locally in ~115ms on Hexagon NPU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6D6A0"/>
                </a:solidFill>
                <a:latin typeface="Segoe UI"/>
              </a:defRPr>
            </a:pPr>
            <a:r>
              <a:t>100% Private — No audio stream ever leaves your device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7B2FF7"/>
                </a:solidFill>
                <a:latin typeface="Segoe UI"/>
              </a:defRPr>
            </a:pPr>
            <a:r>
              <a:t>Shortcut: Alt + Space to summon floating widget anywhere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The "Show, Don't Do" Philosophy — A Deliberate Product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2651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80"/>
            <a:ext cx="26517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6B6B"/>
                </a:solidFill>
                <a:latin typeface="Segoe UI"/>
              </a:defRPr>
            </a:pPr>
            <a:r>
              <a:t>AI never runs commands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B7B8D"/>
                </a:solidFill>
                <a:latin typeface="Segoe UI"/>
              </a:defRPr>
            </a:pPr>
            <a:r>
              <a:t>User stays in control. No destructive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526280"/>
            <a:ext cx="2651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452628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7091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0B4D8"/>
                </a:solidFill>
                <a:latin typeface="Segoe UI"/>
              </a:defRPr>
            </a:pPr>
            <a:r>
              <a:t>User copies and pastes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B7B8D"/>
                </a:solidFill>
                <a:latin typeface="Segoe UI"/>
              </a:defRPr>
            </a:pPr>
            <a:r>
              <a:t>Learns while doing. Feels capable, not dependent.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2651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526280"/>
            <a:ext cx="2651760" cy="73152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7091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7B2FF7"/>
                </a:solidFill>
                <a:latin typeface="Segoe UI"/>
              </a:defRPr>
            </a:pPr>
            <a:r>
              <a:t>One step at a time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B7B8D"/>
                </a:solidFill>
                <a:latin typeface="Segoe UI"/>
              </a:defRPr>
            </a:pPr>
            <a:r>
              <a:t>Don't overwhelm. Show one step, wait, then next.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526280"/>
            <a:ext cx="2651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4526280"/>
            <a:ext cx="2651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47091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6D6A0"/>
                </a:solidFill>
                <a:latin typeface="Segoe UI"/>
              </a:defRPr>
            </a:pPr>
            <a:r>
              <a:t>Privacy-safe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B7B8D"/>
                </a:solidFill>
                <a:latin typeface="Segoe UI"/>
              </a:defRPr>
            </a:pPr>
            <a:r>
              <a:t>NPU reads screen locally. Nothing sent to cloud.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D9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E8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572000"/>
            <a:ext cx="2743200" cy="2743200"/>
          </a:xfrm>
          <a:prstGeom prst="ellipse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6088" y="822960"/>
            <a:ext cx="1645920" cy="1645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7761" y="954633"/>
            <a:ext cx="1382572" cy="1382572"/>
          </a:xfrm>
          <a:prstGeom prst="ellipse">
            <a:avLst/>
          </a:prstGeom>
          <a:solidFill>
            <a:srgbClr val="0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5917996" y="1069848"/>
            <a:ext cx="362102" cy="576072"/>
          </a:xfrm>
          <a:prstGeom prst="triangle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5917996" y="1645920"/>
            <a:ext cx="362102" cy="576072"/>
          </a:xfrm>
          <a:prstGeom prst="triangle">
            <a:avLst/>
          </a:prstGeom>
          <a:solidFill>
            <a:srgbClr val="FAFA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6026627" y="1501079"/>
            <a:ext cx="345643" cy="289681"/>
          </a:xfrm>
          <a:prstGeom prst="triangle">
            <a:avLst/>
          </a:prstGeom>
          <a:solidFill>
            <a:srgbClr val="E0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6200000">
            <a:off x="5782208" y="1501079"/>
            <a:ext cx="345643" cy="289681"/>
          </a:xfrm>
          <a:prstGeom prst="triangle">
            <a:avLst/>
          </a:prstGeom>
          <a:solidFill>
            <a:srgbClr val="E0EE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7374" y="1514246"/>
            <a:ext cx="263347" cy="263347"/>
          </a:xfrm>
          <a:prstGeom prst="ellipse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3211" y="1580083"/>
            <a:ext cx="131673" cy="1316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85587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1A1A2E"/>
                </a:solidFill>
                <a:latin typeface="Segoe UI"/>
              </a:defRPr>
            </a:pPr>
            <a:r>
              <a:t>Direction Without Control.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400"/>
              </a:spcAft>
              <a:defRPr sz="2000" b="0">
                <a:solidFill>
                  <a:srgbClr val="FF6B6B"/>
                </a:solidFill>
                <a:latin typeface="Segoe UI"/>
              </a:defRPr>
            </a:pPr>
            <a:r>
              <a:t>"No more YouTube tutorials. No more asking your kids. Just ask your screen."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029200"/>
            <a:ext cx="192024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Snapdragon X Elite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029200"/>
            <a:ext cx="1920240" cy="45720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Hexagon NPU (45 TOPS)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5029200"/>
            <a:ext cx="1920240" cy="4572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ONNX QNN 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029200"/>
            <a:ext cx="1920240" cy="4572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100% On-Device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9" y="5029200"/>
            <a:ext cx="1920240" cy="457200"/>
          </a:xfrm>
          <a:prstGeom prst="round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MIT License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Segoe UI"/>
              </a:defRPr>
            </a:pPr>
            <a:r>
              <a:t>github.com/Jeevan0714/snapdragon-ai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217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Segoe UI"/>
              </a:defRPr>
            </a:pPr>
            <a:r>
              <a:t>Built for the Snapdragon AI Lab Build &amp; Present Challenge  |  Qualcomm &amp; HP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