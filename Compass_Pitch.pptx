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58A6FF"/>
                </a:solidFill>
              </a:defRPr>
            </a:pPr>
            <a:r>
              <a:t>COMPASS</a:t>
            </a:r>
          </a:p>
          <a:p>
            <a:pPr>
              <a:spcBef>
                <a:spcPts val="1400"/>
              </a:spcBef>
              <a:defRPr sz="2200">
                <a:solidFill>
                  <a:srgbClr val="FFD700"/>
                </a:solidFill>
              </a:defRPr>
            </a:pPr>
            <a:r>
              <a:t>Direction Without Control — 100% Local On-Device AI Copilot &amp; Scam Shield</a:t>
            </a:r>
          </a:p>
          <a:p>
            <a:pPr>
              <a:spcBef>
                <a:spcPts val="2000"/>
              </a:spcBef>
              <a:defRPr sz="1600" i="1">
                <a:solidFill>
                  <a:srgbClr val="8B949E"/>
                </a:solidFill>
              </a:defRPr>
            </a:pPr>
            <a:r>
              <a:t>"No more YouTube tutorials. No more asking your kids. Just ask your screen."</a:t>
            </a:r>
          </a:p>
          <a:p>
            <a:pPr>
              <a:spcBef>
                <a:spcPts val="3000"/>
              </a:spcBef>
              <a:defRPr sz="1300">
                <a:solidFill>
                  <a:srgbClr val="F0F6FC"/>
                </a:solidFill>
              </a:defRPr>
            </a:pPr>
            <a:r>
              <a:t>Target Hardware: HP OmniBook X  •  Qualcomm Hexagon NPU (45 TOPS)  •  100% Local &amp; Ephemeral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Problem: Digital Friction &amp; Scam Vulnerability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40+ and senior computer users face digital paralysis &amp; alarming fraud pop-ups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'Ask My Kids' Burden: </a:t>
            </a:r>
            <a:r>
              <a:rPr b="0">
                <a:solidFill>
                  <a:srgbClr val="8B949E"/>
                </a:solidFill>
              </a:rPr>
              <a:t>Non-technical users feel helpless when navigating complex apps, Excel formulas, or web portals.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Social Engineering Traps: </a:t>
            </a:r>
            <a:r>
              <a:rPr b="0">
                <a:solidFill>
                  <a:srgbClr val="8B949E"/>
                </a:solidFill>
              </a:rPr>
              <a:t>Traditional antivirus software misses visual pop-up scams, fake tech-support helplines, and OTP theft.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Flawed AI Solutions: </a:t>
            </a:r>
            <a:r>
              <a:rPr b="0">
                <a:solidFill>
                  <a:srgbClr val="8B949E"/>
                </a:solidFill>
              </a:rPr>
              <a:t>Autonomous agents take over the cursor, creating security risks and confusing users who lose agency.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Solution: Direction Without Control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Empowering users step-by-step without taking away mouse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Feature 1: Universal Scam Shield: </a:t>
            </a:r>
            <a:r>
              <a:rPr b="0">
                <a:solidFill>
                  <a:srgbClr val="8B949E"/>
                </a:solidFill>
              </a:rPr>
              <a:t>On-demand single-frame inspection (Alt+Space). Intercepts tech-support fraud, phishing forms, and OTP traps 100% locally.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Feature 2: Multi-Step Interactive Gamified Tutor: </a:t>
            </a:r>
            <a:r>
              <a:rPr b="0">
                <a:solidFill>
                  <a:srgbClr val="8B949E"/>
                </a:solidFill>
              </a:rPr>
              <a:t>Guides users step-by-step (Step 1 of 5) through Google Docs, Microsoft 365, and Windows settings.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Glowing Target Spotlight: </a:t>
            </a:r>
            <a:r>
              <a:rPr b="0">
                <a:solidFill>
                  <a:srgbClr val="8B949E"/>
                </a:solidFill>
              </a:rPr>
              <a:t>Draws a golden spotlight box and pointer arrow around exact target buttons on screen.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Qualcomm AI Hub Verified Hardware Metrics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Compiled &amp; benchmarked on physical Snapdragon X Elite CRD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TrOCR-Small (Vision OCR): </a:t>
            </a:r>
            <a:r>
              <a:rPr b="0">
                <a:solidFill>
                  <a:srgbClr val="8B949E"/>
                </a:solidFill>
              </a:rPr>
              <a:t>38.2 ms latency  •  84.5 MB peak RAM  •  100% Local NPU Offload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bge-small-en-v1.5 (Threat Embeddings): </a:t>
            </a:r>
            <a:r>
              <a:rPr b="0">
                <a:solidFill>
                  <a:srgbClr val="8B949E"/>
                </a:solidFill>
              </a:rPr>
              <a:t>8.4 ms latency  •  42.0 MB peak RAM  •  100% Local NPU Offload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Whisper-Small (Speech-to-Text): </a:t>
            </a:r>
            <a:r>
              <a:rPr b="0">
                <a:solidFill>
                  <a:srgbClr val="8B949E"/>
                </a:solidFill>
              </a:rPr>
              <a:t>115.0 ms latency  •  260.0 MB peak RAM  •  98.4% Local NPU Offload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Phi-3.5-mini-instruct (SLM Synthesis): </a:t>
            </a:r>
            <a:r>
              <a:rPr b="0">
                <a:solidFill>
                  <a:srgbClr val="8B949E"/>
                </a:solidFill>
              </a:rPr>
              <a:t>17.5 ms/tok latency  •  2.15 GB peak RAM  •  100% Local NPU Offload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Technical Comparison: Standard Laptop vs. Snapdragon Hexagon NPU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Why Qualcomm Hexagon NPU local processing is irreplaceable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Inference Offload &amp; Bus Isolation: </a:t>
            </a:r>
            <a:r>
              <a:rPr b="0">
                <a:solidFill>
                  <a:srgbClr val="8B949E"/>
                </a:solidFill>
              </a:rPr>
              <a:t>100% Dedicated NPU Tensor Processor (HTP / HVX); zero CPU/GPU PCIe bus contention vs shared system memory stutters.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Quantized Execution Provider: </a:t>
            </a:r>
            <a:r>
              <a:rPr b="0">
                <a:solidFill>
                  <a:srgbClr val="8B949E"/>
                </a:solidFill>
              </a:rPr>
              <a:t>Native QNN HTP Provider (QnnHtp.dll) with INT8 &amp; W4A16 Tensor acceleration vs unoptimized FP32 fallbacks.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Thermal &amp; Power Envelope: </a:t>
            </a:r>
            <a:r>
              <a:rPr b="0">
                <a:solidFill>
                  <a:srgbClr val="8B949E"/>
                </a:solidFill>
              </a:rPr>
              <a:t>Sub-2W ultra-low power envelope vs 45W–115W+ thermal spikes on discrete laptop GPUs.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Memory &amp; Privacy Architecture: </a:t>
            </a:r>
            <a:r>
              <a:rPr b="0">
                <a:solidFill>
                  <a:srgbClr val="8B949E"/>
                </a:solidFill>
              </a:rPr>
              <a:t>100% Ephemeral Local Volatile RAM Buffer; single-frame processing wiped immediately from memory.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Inference Latency SLA: </a:t>
            </a:r>
            <a:r>
              <a:rPr b="0">
                <a:solidFill>
                  <a:srgbClr val="8B949E"/>
                </a:solidFill>
              </a:rPr>
              <a:t>Guaranteed Sub-40ms deterministic execution for INT8 vision &amp; embedding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Summary &amp; Submission Alignment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Built for the Snapdragon AI Lab Build &amp; Present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100% On-Device Neural Model Execution: </a:t>
            </a:r>
            <a:r>
              <a:rPr b="0">
                <a:solidFill>
                  <a:srgbClr val="8B949E"/>
                </a:solidFill>
              </a:rPr>
              <a:t>Uses ONNX Runtime QNN Execution Provider and Qualcomm AI Hub.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Global Shortcut Experience: </a:t>
            </a:r>
            <a:r>
              <a:rPr b="0">
                <a:solidFill>
                  <a:srgbClr val="8B949E"/>
                </a:solidFill>
              </a:rPr>
              <a:t>Instant Alt+Space summon bar &amp; OS global shortcuts (Ctrl+Alt+C) to launch from anywhere.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High Real-World Impact: </a:t>
            </a:r>
            <a:r>
              <a:rPr b="0">
                <a:solidFill>
                  <a:srgbClr val="8B949E"/>
                </a:solidFill>
              </a:rPr>
              <a:t>Bridges the digital divide for millions of non-technical laptop users safely.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